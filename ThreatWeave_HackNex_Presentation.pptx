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judges. Welcome to the presentation of ThreatWeave, developed specifically for HackNex 2026 Problem Statement HNX26PSI03: AI-Powered Cyber Threat Intelligence. ThreatWeave is an evidence-first security platform that solves the hardest challenge in modern SOC operations: connecting fragmented security logs across users, endpoints, IPs, and applications into chronological attack chains, while guaranteeing 100% telemetry grounding with zero generative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HackNex PS03, judges specifically emphasize two non-negotiable rules. Rule 1: More alerts do not equal a better score; false alarms cap your evaluation. Rule 2: Every single attack stage must have concrete proof; an unsupported claim receives zero points. ThreatWeave was engineered from day one to enforce these constraints mathematically.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data pipeline running under the hood. Raw JSON lines enter through our normalizer. Atomic signals are extracted and clustered by actor. Then, our promotion gate checks if at least 3 events and 2 distinct attack stages exist. If so, an Incident is promoted and scored. If not, it is quietly recorded in our immutable suppression ledger. The AI Copilot only ever sees the promoted incident's bounded evidence pack.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top of the Investigation Console: Callout 1 shows primary actor attribution to user-42. Callout 2 displays our circular radial risk meter showing an 89/100 score. Callout 3 exposes the exact 4-factor equation with individual weights, eliminating AI black-box scoring. Callout 4 highlights our approved action playbook with containment buttons.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deliverable requested by PS03: Reconstructing what an attacker did, step by step. The conceptual example in the problem statement mentions: unusual login -&gt; unusual file access -&gt; USB copy. ThreatWeave reconstructs this exact chain across 4 discrete stages, strictly preserving chronological timestamps from 09:41 to 09:58 UTC. Analysts can click any stage card to filter the graph and open the evidence drawer.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interactive SVG Entity Graph, powered by NetworkX on the backend. It connects 28 nodes: users, workstations, ingress IPs, sensitive file shares, USB volumes, and egress IPs. Judges can visibly see how user-42 connects to device-17, mounts Volume E:, accesses the confidential files, and pushes data out to 198.51.100.88. Clicking any stage dims unrelated nodes.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PS03 Key Rule #2 states: 'Every stage of the attack must have proof. An unsupported claim doesn't count.' Here is our Forensic Evidence Drawer. When an evaluator clicks Stage 1, this drawer slides open. It cites the exact event ID evt-003, displaying the raw VPN payload, the Bucharest IP, and the exact timestamp. There are zero synthetic or inferred stages in ThreatWeave.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teams connect a generic LLM that fabricates indicators. In ThreatWeave, our Copilot operates strictly on a Bounded Evidence Pack. Callout 2 shows the green verification seal. Even better: Callout 4 highlights our built-in stress-test sandbox. During evaluation, judges can click 'Inject Hallucinated Event evt-fake-9999', and watch our verifier immediately intercept and reject the output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Replay Lab, evaluators can test reproducibility. We preloaded 3 distinct scenarios: The Canonical Attack, the Benign Administrator negative control, and a Partial Attack. Clicking 'Replay Dataset' re-runs the entire pipeline end-to-end. Notice that on benign_admin.jsonl, exactly 0 incidents are promoted, proving adherence to Key Rule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clean logs enter ThreatWeave, what happens to isolated signals like an administrator working after hours? Instead of spamming the SOC triage queue or dropping the event into a black hole, our system routes it to this immutable Suppression Audit Ledger. It documents why the cluster was suppressed—specifically, INSUFFICIENT_CHAIN_EVIDENCE—maintaining full compliance while keeping the triage queue clean.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HackNex 'Declare Your Resources' rule, we are completely transparent about our technology and data. All 4 scenario datasets are committed, static JSONL files with verified SHA-256 hashes. No external public datasets like DARPA or CICIDS are used in runtime. The system runs 100% offline, requires zero API keys, and has 42 automated tests passing with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3-minute live evaluation blueprint. In Minute 1, we show the canonical attack and the 4-factor risk meter. In Minute 2, we demonstrate Rule #2 by opening the evidence drawer and graph for Stage 1. In Minute 3, we execute the benign replay to prove Rule #1 false-positive suppression, and click the fake injection button to prove real-time verifier interception. Thank you! We are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1097280" y="1097280"/>
            <a:ext cx="9997135" cy="466344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0"/>
            <a:ext cx="8869680" cy="3474720"/>
          </a:xfrm>
          <a:prstGeom prst="rect">
            <a:avLst/>
          </a:prstGeom>
          <a:noFill/>
        </p:spPr>
        <p:txBody>
          <a:bodyPr wrap="square">
            <a:spAutoFit/>
          </a:bodyPr>
          <a:lstStyle/>
          <a:p>
            <a:pPr>
              <a:spcAft>
                <a:spcPts val="1400"/>
              </a:spcAft>
              <a:defRPr sz="1400" b="1">
                <a:solidFill>
                  <a:srgbClr val="06B6D4"/>
                </a:solidFill>
                <a:latin typeface="Segoe UI"/>
              </a:defRPr>
            </a:pPr>
            <a:r>
              <a:t>HACKNEX 2026 // HNX26PSI03</a:t>
            </a:r>
          </a:p>
          <a:p>
            <a:pPr>
              <a:spcAft>
                <a:spcPts val="800"/>
              </a:spcAft>
              <a:defRPr sz="4400" b="1">
                <a:solidFill>
                  <a:srgbClr val="F8FAFC"/>
                </a:solidFill>
                <a:latin typeface="Segoe UI"/>
              </a:defRPr>
            </a:pPr>
            <a:r>
              <a:t>THREATWEAVE</a:t>
            </a:r>
          </a:p>
          <a:p>
            <a:pPr>
              <a:spcAft>
                <a:spcPts val="2400"/>
              </a:spcAft>
              <a:defRPr sz="2000">
                <a:solidFill>
                  <a:srgbClr val="94A3B8"/>
                </a:solidFill>
                <a:latin typeface="Segoe UI"/>
              </a:defRPr>
            </a:pPr>
            <a:r>
              <a:t>AI-Powered Cyber Threat Intelligence &amp; Multi-Stage Attack Chain Reconstruction</a:t>
            </a:r>
          </a:p>
          <a:p>
            <a:pPr>
              <a:defRPr sz="1400">
                <a:solidFill>
                  <a:srgbClr val="10B981"/>
                </a:solidFill>
                <a:latin typeface="Segoe UI"/>
              </a:defRPr>
            </a:pPr>
            <a:r>
              <a:t>• Evidence-First Correlation Engine  • Deterministic 4-Factor Risk Index (89/100)</a:t>
            </a:r>
            <a:br/>
            <a:r>
              <a:t>• Real-Time Promotion Gate (0 FP on Benign)  • Bounded Anti-Hallucination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The PS03 Mandate &amp; Core Architectural Rules</a:t>
            </a:r>
          </a:p>
        </p:txBody>
      </p:sp>
      <p:sp>
        <p:nvSpPr>
          <p:cNvPr id="4" name="Rounded Rectangle 3"/>
          <p:cNvSpPr/>
          <p:nvPr/>
        </p:nvSpPr>
        <p:spPr>
          <a:xfrm>
            <a:off x="731520" y="1463040"/>
            <a:ext cx="512064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572000" cy="4206240"/>
          </a:xfrm>
          <a:prstGeom prst="rect">
            <a:avLst/>
          </a:prstGeom>
          <a:noFill/>
        </p:spPr>
        <p:txBody>
          <a:bodyPr wrap="square">
            <a:spAutoFit/>
          </a:bodyPr>
          <a:lstStyle/>
          <a:p>
            <a:pPr>
              <a:spcAft>
                <a:spcPts val="1000"/>
              </a:spcAft>
              <a:defRPr sz="1600" b="1">
                <a:solidFill>
                  <a:srgbClr val="F43F5E"/>
                </a:solidFill>
                <a:latin typeface="Segoe UI"/>
              </a:defRPr>
            </a:pPr>
            <a:r>
              <a:t>THE PROBLEM: DISCONNECTED LOGS</a:t>
            </a:r>
          </a:p>
          <a:p>
            <a:pPr>
              <a:spcAft>
                <a:spcPts val="800"/>
              </a:spcAft>
              <a:defRPr sz="1300">
                <a:solidFill>
                  <a:srgbClr val="94A3B8"/>
                </a:solidFill>
                <a:latin typeface="Segoe UI"/>
              </a:defRPr>
            </a:pPr>
            <a:r>
              <a:t>•  Millions of logs collect daily from Windows, VPNs, EDR, and firewalls.</a:t>
            </a:r>
          </a:p>
          <a:p>
            <a:pPr>
              <a:spcAft>
                <a:spcPts val="800"/>
              </a:spcAft>
              <a:defRPr sz="1300">
                <a:solidFill>
                  <a:srgbClr val="94A3B8"/>
                </a:solidFill>
                <a:latin typeface="Segoe UI"/>
              </a:defRPr>
            </a:pPr>
            <a:r>
              <a:t>•  Each log by itself appears normal or routine (login, file read, USB insert).</a:t>
            </a:r>
          </a:p>
          <a:p>
            <a:pPr>
              <a:spcAft>
                <a:spcPts val="800"/>
              </a:spcAft>
              <a:defRPr sz="1300">
                <a:solidFill>
                  <a:srgbClr val="94A3B8"/>
                </a:solidFill>
                <a:latin typeface="Segoe UI"/>
              </a:defRPr>
            </a:pPr>
            <a:r>
              <a:t>•  Point-detection SIEMs flood analysts with isolated, uncorrelated alerts.</a:t>
            </a:r>
          </a:p>
          <a:p>
            <a:pPr>
              <a:spcAft>
                <a:spcPts val="800"/>
              </a:spcAft>
              <a:defRPr sz="1300">
                <a:solidFill>
                  <a:srgbClr val="94A3B8"/>
                </a:solidFill>
                <a:latin typeface="Segoe UI"/>
              </a:defRPr>
            </a:pPr>
            <a:r>
              <a:t>•  Traditional AI tools hallucinate fake timestamps and ungrounded threat indicators.</a:t>
            </a:r>
          </a:p>
        </p:txBody>
      </p:sp>
      <p:sp>
        <p:nvSpPr>
          <p:cNvPr id="6" name="Rounded Rectangle 5"/>
          <p:cNvSpPr/>
          <p:nvPr/>
        </p:nvSpPr>
        <p:spPr>
          <a:xfrm>
            <a:off x="6217920" y="1463040"/>
            <a:ext cx="521208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63440" cy="4206240"/>
          </a:xfrm>
          <a:prstGeom prst="rect">
            <a:avLst/>
          </a:prstGeom>
          <a:noFill/>
        </p:spPr>
        <p:txBody>
          <a:bodyPr wrap="square">
            <a:spAutoFit/>
          </a:bodyPr>
          <a:lstStyle/>
          <a:p>
            <a:pPr>
              <a:spcAft>
                <a:spcPts val="1000"/>
              </a:spcAft>
              <a:defRPr sz="1600" b="1">
                <a:solidFill>
                  <a:srgbClr val="F59E0B"/>
                </a:solidFill>
                <a:latin typeface="Segoe UI"/>
              </a:defRPr>
            </a:pPr>
            <a:r>
              <a:t>AUTHORITATIVE PS03 EVALUATION RULES</a:t>
            </a:r>
          </a:p>
          <a:p>
            <a:pPr>
              <a:defRPr sz="1300" b="1">
                <a:solidFill>
                  <a:srgbClr val="10B981"/>
                </a:solidFill>
                <a:latin typeface="Segoe UI"/>
              </a:defRPr>
            </a:pPr>
            <a:r>
              <a:t>RULE 1: FALSE POSITIVE LIMIT</a:t>
            </a:r>
          </a:p>
          <a:p>
            <a:pPr>
              <a:spcAft>
                <a:spcPts val="800"/>
              </a:spcAft>
              <a:defRPr sz="1200">
                <a:solidFill>
                  <a:srgbClr val="94A3B8"/>
                </a:solidFill>
                <a:latin typeface="Segoe UI"/>
              </a:defRPr>
            </a:pPr>
            <a:r>
              <a:t>More alerts ≠ better score. Raising too many false alarms on clean logs caps your score. System must stay quiet on benign data.</a:t>
            </a:r>
          </a:p>
          <a:p>
            <a:pPr>
              <a:defRPr sz="1300" b="1">
                <a:solidFill>
                  <a:srgbClr val="06B6D4"/>
                </a:solidFill>
                <a:latin typeface="Segoe UI"/>
              </a:defRPr>
            </a:pPr>
            <a:r>
              <a:t>RULE 2: PROOF FOR EVERY STAGE</a:t>
            </a:r>
          </a:p>
          <a:p>
            <a:pPr>
              <a:spcAft>
                <a:spcPts val="800"/>
              </a:spcAft>
              <a:defRPr sz="1200">
                <a:solidFill>
                  <a:srgbClr val="94A3B8"/>
                </a:solidFill>
                <a:latin typeface="Segoe UI"/>
              </a:defRPr>
            </a:pPr>
            <a:r>
              <a:t>Every stage of the attack must have proof. An unsupported claim doesn't count. Every promoted stage must cite real telemetry event IDs.</a:t>
            </a:r>
          </a:p>
          <a:p>
            <a:pPr>
              <a:defRPr sz="1300" b="1">
                <a:solidFill>
                  <a:srgbClr val="A855F7"/>
                </a:solidFill>
                <a:latin typeface="Segoe UI"/>
              </a:defRPr>
            </a:pPr>
            <a:r>
              <a:t>THREATWEAVE ARCHITECTURE</a:t>
            </a:r>
          </a:p>
          <a:p>
            <a:pPr>
              <a:spcAft>
                <a:spcPts val="800"/>
              </a:spcAft>
              <a:defRPr sz="1200">
                <a:solidFill>
                  <a:srgbClr val="94A3B8"/>
                </a:solidFill>
                <a:latin typeface="Segoe UI"/>
              </a:defRPr>
            </a:pPr>
            <a:r>
              <a:t>Deterministic correlation engine + 2-stage promotion gate + bounded evidence pack + strict schema verifier.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End-to-End Pipeline &amp; Data Flow Architecture</a:t>
            </a:r>
          </a:p>
        </p:txBody>
      </p:sp>
      <p:sp>
        <p:nvSpPr>
          <p:cNvPr id="4" name="Rounded Rectangle 3"/>
          <p:cNvSpPr/>
          <p:nvPr/>
        </p:nvSpPr>
        <p:spPr>
          <a:xfrm>
            <a:off x="731520" y="146304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1828800"/>
          </a:xfrm>
          <a:prstGeom prst="rect">
            <a:avLst/>
          </a:prstGeom>
          <a:noFill/>
        </p:spPr>
        <p:txBody>
          <a:bodyPr wrap="square">
            <a:spAutoFit/>
          </a:bodyPr>
          <a:lstStyle/>
          <a:p>
            <a:pPr>
              <a:spcAft>
                <a:spcPts val="800"/>
              </a:spcAft>
              <a:defRPr sz="1400" b="1">
                <a:solidFill>
                  <a:srgbClr val="3B82F6"/>
                </a:solidFill>
                <a:latin typeface="Segoe UI"/>
              </a:defRPr>
            </a:pPr>
            <a:r>
              <a:t>1. INGESTION</a:t>
            </a:r>
          </a:p>
          <a:p>
            <a:pPr>
              <a:defRPr sz="1100">
                <a:solidFill>
                  <a:srgbClr val="94A3B8"/>
                </a:solidFill>
                <a:latin typeface="Segoe UI"/>
              </a:defRPr>
            </a:pPr>
            <a:r>
              <a:t>Normalizes Windows, VPN, and EDR logs into CanonicalEvent-v1 schema with quarantine safety.</a:t>
            </a:r>
          </a:p>
        </p:txBody>
      </p:sp>
      <p:sp>
        <p:nvSpPr>
          <p:cNvPr id="6" name="Rounded Rectangle 5"/>
          <p:cNvSpPr/>
          <p:nvPr/>
        </p:nvSpPr>
        <p:spPr>
          <a:xfrm>
            <a:off x="4389120" y="146304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1828800"/>
          </a:xfrm>
          <a:prstGeom prst="rect">
            <a:avLst/>
          </a:prstGeom>
          <a:noFill/>
        </p:spPr>
        <p:txBody>
          <a:bodyPr wrap="square">
            <a:spAutoFit/>
          </a:bodyPr>
          <a:lstStyle/>
          <a:p>
            <a:pPr>
              <a:spcAft>
                <a:spcPts val="800"/>
              </a:spcAft>
              <a:defRPr sz="1400" b="1">
                <a:solidFill>
                  <a:srgbClr val="06B6D4"/>
                </a:solidFill>
                <a:latin typeface="Segoe UI"/>
              </a:defRPr>
            </a:pPr>
            <a:r>
              <a:t>2. ATOMIC SIGNALS</a:t>
            </a:r>
          </a:p>
          <a:p>
            <a:pPr>
              <a:defRPr sz="1100">
                <a:solidFill>
                  <a:srgbClr val="94A3B8"/>
                </a:solidFill>
                <a:latin typeface="Segoe UI"/>
              </a:defRPr>
            </a:pPr>
            <a:r>
              <a:t>Declarative YAML rules &amp; entity novelty baselines detect atomic anomalies (auth novelty, sensitive files).</a:t>
            </a:r>
          </a:p>
        </p:txBody>
      </p:sp>
      <p:sp>
        <p:nvSpPr>
          <p:cNvPr id="8" name="Rounded Rectangle 7"/>
          <p:cNvSpPr/>
          <p:nvPr/>
        </p:nvSpPr>
        <p:spPr>
          <a:xfrm>
            <a:off x="8046720" y="146304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1828800"/>
          </a:xfrm>
          <a:prstGeom prst="rect">
            <a:avLst/>
          </a:prstGeom>
          <a:noFill/>
        </p:spPr>
        <p:txBody>
          <a:bodyPr wrap="square">
            <a:spAutoFit/>
          </a:bodyPr>
          <a:lstStyle/>
          <a:p>
            <a:pPr>
              <a:spcAft>
                <a:spcPts val="800"/>
              </a:spcAft>
              <a:defRPr sz="1400" b="1">
                <a:solidFill>
                  <a:srgbClr val="A855F7"/>
                </a:solidFill>
                <a:latin typeface="Segoe UI"/>
              </a:defRPr>
            </a:pPr>
            <a:r>
              <a:t>3. CORRELATION</a:t>
            </a:r>
          </a:p>
          <a:p>
            <a:pPr>
              <a:defRPr sz="1100">
                <a:solidFill>
                  <a:srgbClr val="94A3B8"/>
                </a:solidFill>
                <a:latin typeface="Segoe UI"/>
              </a:defRPr>
            </a:pPr>
            <a:r>
              <a:t>TemporalSequenceCorrelator groups signals by primary actor across sliding 3600-second windows.</a:t>
            </a:r>
          </a:p>
        </p:txBody>
      </p:sp>
      <p:sp>
        <p:nvSpPr>
          <p:cNvPr id="10" name="Rounded Rectangle 9"/>
          <p:cNvSpPr/>
          <p:nvPr/>
        </p:nvSpPr>
        <p:spPr>
          <a:xfrm>
            <a:off x="731520" y="393192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3017520" cy="1828800"/>
          </a:xfrm>
          <a:prstGeom prst="rect">
            <a:avLst/>
          </a:prstGeom>
          <a:noFill/>
        </p:spPr>
        <p:txBody>
          <a:bodyPr wrap="square">
            <a:spAutoFit/>
          </a:bodyPr>
          <a:lstStyle/>
          <a:p>
            <a:pPr>
              <a:spcAft>
                <a:spcPts val="800"/>
              </a:spcAft>
              <a:defRPr sz="1400" b="1">
                <a:solidFill>
                  <a:srgbClr val="10B981"/>
                </a:solidFill>
                <a:latin typeface="Segoe UI"/>
              </a:defRPr>
            </a:pPr>
            <a:r>
              <a:t>4. PROMOTION GATE</a:t>
            </a:r>
          </a:p>
          <a:p>
            <a:pPr>
              <a:defRPr sz="1100">
                <a:solidFill>
                  <a:srgbClr val="94A3B8"/>
                </a:solidFill>
                <a:latin typeface="Segoe UI"/>
              </a:defRPr>
            </a:pPr>
            <a:r>
              <a:t>Enforces ≥3 events, ≥2 stages, and monotonic chronology. Suppressed noise logged to audit ledger.</a:t>
            </a:r>
          </a:p>
        </p:txBody>
      </p:sp>
      <p:sp>
        <p:nvSpPr>
          <p:cNvPr id="12" name="Rounded Rectangle 11"/>
          <p:cNvSpPr/>
          <p:nvPr/>
        </p:nvSpPr>
        <p:spPr>
          <a:xfrm>
            <a:off x="4389120" y="393192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114800"/>
            <a:ext cx="3017520" cy="1828800"/>
          </a:xfrm>
          <a:prstGeom prst="rect">
            <a:avLst/>
          </a:prstGeom>
          <a:noFill/>
        </p:spPr>
        <p:txBody>
          <a:bodyPr wrap="square">
            <a:spAutoFit/>
          </a:bodyPr>
          <a:lstStyle/>
          <a:p>
            <a:pPr>
              <a:spcAft>
                <a:spcPts val="800"/>
              </a:spcAft>
              <a:defRPr sz="1400" b="1">
                <a:solidFill>
                  <a:srgbClr val="F59E0B"/>
                </a:solidFill>
                <a:latin typeface="Segoe UI"/>
              </a:defRPr>
            </a:pPr>
            <a:r>
              <a:t>5. RISK ENGINE</a:t>
            </a:r>
          </a:p>
          <a:p>
            <a:pPr>
              <a:defRPr sz="1100">
                <a:solidFill>
                  <a:srgbClr val="94A3B8"/>
                </a:solidFill>
                <a:latin typeface="Segoe UI"/>
              </a:defRPr>
            </a:pPr>
            <a:r>
              <a:t>Computes explainable 4-factor score: 35% Signal + 30% Sequence + 20% Novelty + 15% Anomaly.</a:t>
            </a:r>
          </a:p>
        </p:txBody>
      </p:sp>
      <p:sp>
        <p:nvSpPr>
          <p:cNvPr id="14" name="Rounded Rectangle 13"/>
          <p:cNvSpPr/>
          <p:nvPr/>
        </p:nvSpPr>
        <p:spPr>
          <a:xfrm>
            <a:off x="8046720" y="3931920"/>
            <a:ext cx="3383280" cy="21945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4114800"/>
            <a:ext cx="3017520" cy="1828800"/>
          </a:xfrm>
          <a:prstGeom prst="rect">
            <a:avLst/>
          </a:prstGeom>
          <a:noFill/>
        </p:spPr>
        <p:txBody>
          <a:bodyPr wrap="square">
            <a:spAutoFit/>
          </a:bodyPr>
          <a:lstStyle/>
          <a:p>
            <a:pPr>
              <a:spcAft>
                <a:spcPts val="800"/>
              </a:spcAft>
              <a:defRPr sz="1400" b="1">
                <a:solidFill>
                  <a:srgbClr val="F43F5E"/>
                </a:solidFill>
                <a:latin typeface="Segoe UI"/>
              </a:defRPr>
            </a:pPr>
            <a:r>
              <a:t>6. BOUNDED COPILOT</a:t>
            </a:r>
          </a:p>
          <a:p>
            <a:pPr>
              <a:defRPr sz="1100">
                <a:solidFill>
                  <a:srgbClr val="94A3B8"/>
                </a:solidFill>
                <a:latin typeface="Segoe UI"/>
              </a:defRPr>
            </a:pPr>
            <a:r>
              <a:t>Synthesizes analyst briefing strictly from bounded evidence pack. Rejects ungrounded tokens.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Executive Console &amp; 4-Factor Risk Meter</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06B6D4"/>
                </a:solidFill>
                <a:latin typeface="Segoe UI"/>
              </a:defRPr>
            </a:pPr>
            <a:r>
              <a:t>CORE UI ELEMENTS HIGHLIGHTED</a:t>
            </a:r>
          </a:p>
          <a:p>
            <a:pPr>
              <a:defRPr sz="1300" b="1">
                <a:solidFill>
                  <a:srgbClr val="06B6D4"/>
                </a:solidFill>
                <a:latin typeface="Segoe UI"/>
              </a:defRPr>
            </a:pPr>
            <a:r>
              <a:t>[1] Actor Header</a:t>
            </a:r>
          </a:p>
          <a:p>
            <a:pPr>
              <a:spcAft>
                <a:spcPts val="600"/>
              </a:spcAft>
              <a:defRPr sz="1100">
                <a:solidFill>
                  <a:srgbClr val="94A3B8"/>
                </a:solidFill>
                <a:latin typeface="Segoe UI"/>
              </a:defRPr>
            </a:pPr>
            <a:r>
              <a:t>Attributed to user-42 on device-17 across 4 attack stages and 7 correlated events.</a:t>
            </a:r>
          </a:p>
          <a:p>
            <a:pPr>
              <a:defRPr sz="1300" b="1">
                <a:solidFill>
                  <a:srgbClr val="F43F5E"/>
                </a:solidFill>
                <a:latin typeface="Segoe UI"/>
              </a:defRPr>
            </a:pPr>
            <a:r>
              <a:t>[2] Radial Risk Meter</a:t>
            </a:r>
          </a:p>
          <a:p>
            <a:pPr>
              <a:spcAft>
                <a:spcPts val="600"/>
              </a:spcAft>
              <a:defRPr sz="1100">
                <a:solidFill>
                  <a:srgbClr val="94A3B8"/>
                </a:solidFill>
                <a:latin typeface="Segoe UI"/>
              </a:defRPr>
            </a:pPr>
            <a:r>
              <a:t>Calculates composite Risk Index: 89/100 (HIGH) with 94% statistical confidence.</a:t>
            </a:r>
          </a:p>
          <a:p>
            <a:pPr>
              <a:defRPr sz="1300" b="1">
                <a:solidFill>
                  <a:srgbClr val="F59E0B"/>
                </a:solidFill>
                <a:latin typeface="Segoe UI"/>
              </a:defRPr>
            </a:pPr>
            <a:r>
              <a:t>[3] 4-Factor Formula</a:t>
            </a:r>
          </a:p>
          <a:p>
            <a:pPr>
              <a:spcAft>
                <a:spcPts val="600"/>
              </a:spcAft>
              <a:defRPr sz="1100">
                <a:solidFill>
                  <a:srgbClr val="94A3B8"/>
                </a:solidFill>
                <a:latin typeface="Segoe UI"/>
              </a:defRPr>
            </a:pPr>
            <a:r>
              <a:t>100 × (0.35 × Signal + 0.30 × Sequence + 0.20 × Novelty + 0.15 × Anomaly). Transparent and exposed.</a:t>
            </a:r>
          </a:p>
          <a:p>
            <a:pPr>
              <a:defRPr sz="1300" b="1">
                <a:solidFill>
                  <a:srgbClr val="10B981"/>
                </a:solidFill>
                <a:latin typeface="Segoe UI"/>
              </a:defRPr>
            </a:pPr>
            <a:r>
              <a:t>[4] Action Playbook</a:t>
            </a:r>
          </a:p>
          <a:p>
            <a:pPr>
              <a:spcAft>
                <a:spcPts val="600"/>
              </a:spcAft>
              <a:defRPr sz="1100">
                <a:solidFill>
                  <a:srgbClr val="94A3B8"/>
                </a:solidFill>
                <a:latin typeface="Segoe UI"/>
              </a:defRPr>
            </a:pPr>
            <a:r>
              <a:t>Approved dynamic response catalog: isolate-device, disable-session, review-resource-access.</a:t>
            </a:r>
          </a:p>
        </p:txBody>
      </p:sp>
      <p:pic>
        <p:nvPicPr>
          <p:cNvPr id="6" name="Picture 5" descr="annotated_01_executive_console.png"/>
          <p:cNvPicPr>
            <a:picLocks noChangeAspect="1"/>
          </p:cNvPicPr>
          <p:nvPr/>
        </p:nvPicPr>
        <p:blipFill>
          <a:blip r:embed="rId2"/>
          <a:stretch>
            <a:fillRect/>
          </a:stretch>
        </p:blipFill>
        <p:spPr>
          <a:xfrm>
            <a:off x="5303520" y="1371600"/>
            <a:ext cx="6217920" cy="27980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Chronological Attack Timeline</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F59E0B"/>
                </a:solidFill>
                <a:latin typeface="Segoe UI"/>
              </a:defRPr>
            </a:pPr>
            <a:r>
              <a:t>ATTACK RECONSTRUCTION STAGES</a:t>
            </a:r>
          </a:p>
          <a:p>
            <a:pPr>
              <a:defRPr sz="1200" b="1">
                <a:solidFill>
                  <a:srgbClr val="06B6D4"/>
                </a:solidFill>
                <a:latin typeface="Segoe UI"/>
              </a:defRPr>
            </a:pPr>
            <a:r>
              <a:t>[1] Stage 1: Initial Access</a:t>
            </a:r>
          </a:p>
          <a:p>
            <a:pPr>
              <a:spcAft>
                <a:spcPts val="400"/>
              </a:spcAft>
              <a:defRPr sz="1100">
                <a:solidFill>
                  <a:srgbClr val="94A3B8"/>
                </a:solidFill>
                <a:latin typeface="Segoe UI"/>
              </a:defRPr>
            </a:pPr>
            <a:r>
              <a:t>09:41:12 UTC — VPN login from Bucharest, Romania (203.0.113.10) triggering AUTH_NEW_LOCATION (evt-003).</a:t>
            </a:r>
          </a:p>
          <a:p>
            <a:pPr>
              <a:defRPr sz="1200" b="1">
                <a:solidFill>
                  <a:srgbClr val="A855F7"/>
                </a:solidFill>
                <a:latin typeface="Segoe UI"/>
              </a:defRPr>
            </a:pPr>
            <a:r>
              <a:t>[2] Stage 2: Collection</a:t>
            </a:r>
          </a:p>
          <a:p>
            <a:pPr>
              <a:spcAft>
                <a:spcPts val="400"/>
              </a:spcAft>
              <a:defRPr sz="1100">
                <a:solidFill>
                  <a:srgbClr val="94A3B8"/>
                </a:solidFill>
                <a:latin typeface="Segoe UI"/>
              </a:defRPr>
            </a:pPr>
            <a:r>
              <a:t>09:48:33 to 09:50:14 UTC — Access to payroll.xlsx and Project_Titan.pdf on corporate shares (evt-008, evt-009).</a:t>
            </a:r>
          </a:p>
          <a:p>
            <a:pPr>
              <a:defRPr sz="1200" b="1">
                <a:solidFill>
                  <a:srgbClr val="F59E0B"/>
                </a:solidFill>
                <a:latin typeface="Segoe UI"/>
              </a:defRPr>
            </a:pPr>
            <a:r>
              <a:t>[3] Stage 3: USB Transfer</a:t>
            </a:r>
          </a:p>
          <a:p>
            <a:pPr>
              <a:spcAft>
                <a:spcPts val="400"/>
              </a:spcAft>
              <a:defRPr sz="1100">
                <a:solidFill>
                  <a:srgbClr val="94A3B8"/>
                </a:solidFill>
                <a:latin typeface="Segoe UI"/>
              </a:defRPr>
            </a:pPr>
            <a:r>
              <a:t>09:52:05 to 09:55:02 UTC — Removable storage mounted on device-17; files copied to Volume E:\ (evt-011, 012, 013).</a:t>
            </a:r>
          </a:p>
          <a:p>
            <a:pPr>
              <a:defRPr sz="1200" b="1">
                <a:solidFill>
                  <a:srgbClr val="F43F5E"/>
                </a:solidFill>
                <a:latin typeface="Segoe UI"/>
              </a:defRPr>
            </a:pPr>
            <a:r>
              <a:t>[4] Stage 4: Exfiltration</a:t>
            </a:r>
          </a:p>
          <a:p>
            <a:pPr>
              <a:spcAft>
                <a:spcPts val="400"/>
              </a:spcAft>
              <a:defRPr sz="1100">
                <a:solidFill>
                  <a:srgbClr val="94A3B8"/>
                </a:solidFill>
                <a:latin typeface="Segoe UI"/>
              </a:defRPr>
            </a:pPr>
            <a:r>
              <a:t>09:58:45 UTC — 14.5 MB egress transfer to foreign destination 198.51.100.88 (evt-015).</a:t>
            </a:r>
          </a:p>
          <a:p>
            <a:pPr>
              <a:defRPr sz="1200" b="1">
                <a:solidFill>
                  <a:srgbClr val="10B981"/>
                </a:solidFill>
                <a:latin typeface="Segoe UI"/>
              </a:defRPr>
            </a:pPr>
            <a:r>
              <a:t>Chronological Guarantee</a:t>
            </a:r>
          </a:p>
          <a:p>
            <a:pPr>
              <a:spcAft>
                <a:spcPts val="400"/>
              </a:spcAft>
              <a:defRPr sz="1100">
                <a:solidFill>
                  <a:srgbClr val="94A3B8"/>
                </a:solidFill>
                <a:latin typeface="Segoe UI"/>
              </a:defRPr>
            </a:pPr>
            <a:r>
              <a:t>Strict timestamp ordering verified across all 15 events. 0% timestamp drift.</a:t>
            </a:r>
          </a:p>
        </p:txBody>
      </p:sp>
      <p:pic>
        <p:nvPicPr>
          <p:cNvPr id="6" name="Picture 5" descr="annotated_02_attack_timeline.png"/>
          <p:cNvPicPr>
            <a:picLocks noChangeAspect="1"/>
          </p:cNvPicPr>
          <p:nvPr/>
        </p:nvPicPr>
        <p:blipFill>
          <a:blip r:embed="rId2"/>
          <a:stretch>
            <a:fillRect/>
          </a:stretch>
        </p:blipFill>
        <p:spPr>
          <a:xfrm>
            <a:off x="5303520" y="1371600"/>
            <a:ext cx="6217920" cy="225399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Interactive SVG Entity-Relational Graph</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06B6D4"/>
                </a:solidFill>
                <a:latin typeface="Segoe UI"/>
              </a:defRPr>
            </a:pPr>
            <a:r>
              <a:t>MULTI-RELATIONAL TOPOLOGY</a:t>
            </a:r>
          </a:p>
          <a:p>
            <a:pPr>
              <a:defRPr sz="1200" b="1">
                <a:solidFill>
                  <a:srgbClr val="06B6D4"/>
                </a:solidFill>
                <a:latin typeface="Segoe UI"/>
              </a:defRPr>
            </a:pPr>
            <a:r>
              <a:t>[1] Actor &amp; Device Core Hub</a:t>
            </a:r>
          </a:p>
          <a:p>
            <a:pPr>
              <a:spcAft>
                <a:spcPts val="400"/>
              </a:spcAft>
              <a:defRPr sz="1100">
                <a:solidFill>
                  <a:srgbClr val="94A3B8"/>
                </a:solidFill>
                <a:latin typeface="Segoe UI"/>
              </a:defRPr>
            </a:pPr>
            <a:r>
              <a:t>user-42 connected to device-17 via OCCURRED_ON relationships.</a:t>
            </a:r>
          </a:p>
          <a:p>
            <a:pPr>
              <a:defRPr sz="1200" b="1">
                <a:solidFill>
                  <a:srgbClr val="A855F7"/>
                </a:solidFill>
                <a:latin typeface="Segoe UI"/>
              </a:defRPr>
            </a:pPr>
            <a:r>
              <a:t>[2] Ingress IP Node</a:t>
            </a:r>
          </a:p>
          <a:p>
            <a:pPr>
              <a:spcAft>
                <a:spcPts val="400"/>
              </a:spcAft>
              <a:defRPr sz="1100">
                <a:solidFill>
                  <a:srgbClr val="94A3B8"/>
                </a:solidFill>
                <a:latin typeface="Segoe UI"/>
              </a:defRPr>
            </a:pPr>
            <a:r>
              <a:t>203.0.113.10 mapped via FROM_IP link during VPN authentication.</a:t>
            </a:r>
          </a:p>
          <a:p>
            <a:pPr>
              <a:defRPr sz="1200" b="1">
                <a:solidFill>
                  <a:srgbClr val="10B981"/>
                </a:solidFill>
                <a:latin typeface="Segoe UI"/>
              </a:defRPr>
            </a:pPr>
            <a:r>
              <a:t>[3] Sensitive Resource Nodes</a:t>
            </a:r>
          </a:p>
          <a:p>
            <a:pPr>
              <a:spcAft>
                <a:spcPts val="400"/>
              </a:spcAft>
              <a:defRPr sz="1100">
                <a:solidFill>
                  <a:srgbClr val="94A3B8"/>
                </a:solidFill>
                <a:latin typeface="Segoe UI"/>
              </a:defRPr>
            </a:pPr>
            <a:r>
              <a:t>payroll.xlsx and Project_Titan.pdf linked via ACCESSED_RESOURCE.</a:t>
            </a:r>
          </a:p>
          <a:p>
            <a:pPr>
              <a:defRPr sz="1200" b="1">
                <a:solidFill>
                  <a:srgbClr val="F59E0B"/>
                </a:solidFill>
                <a:latin typeface="Segoe UI"/>
              </a:defRPr>
            </a:pPr>
            <a:r>
              <a:t>[4] Removable Media Volume</a:t>
            </a:r>
          </a:p>
          <a:p>
            <a:pPr>
              <a:spcAft>
                <a:spcPts val="400"/>
              </a:spcAft>
              <a:defRPr sz="1100">
                <a:solidFill>
                  <a:srgbClr val="94A3B8"/>
                </a:solidFill>
                <a:latin typeface="Segoe UI"/>
              </a:defRPr>
            </a:pPr>
            <a:r>
              <a:t>Volume:E:\ connected via MOUNTED_USB to device-17.</a:t>
            </a:r>
          </a:p>
          <a:p>
            <a:pPr>
              <a:defRPr sz="1200" b="1">
                <a:solidFill>
                  <a:srgbClr val="F43F5E"/>
                </a:solidFill>
                <a:latin typeface="Segoe UI"/>
              </a:defRPr>
            </a:pPr>
            <a:r>
              <a:t>[5] Egress Destination IP</a:t>
            </a:r>
          </a:p>
          <a:p>
            <a:pPr>
              <a:spcAft>
                <a:spcPts val="400"/>
              </a:spcAft>
              <a:defRPr sz="1100">
                <a:solidFill>
                  <a:srgbClr val="94A3B8"/>
                </a:solidFill>
                <a:latin typeface="Segoe UI"/>
              </a:defRPr>
            </a:pPr>
            <a:r>
              <a:t>198.51.100.88 connected via CONNECTED_TO_IP with exfiltrated byte payload.</a:t>
            </a:r>
          </a:p>
          <a:p>
            <a:pPr>
              <a:defRPr sz="1200" b="1">
                <a:solidFill>
                  <a:srgbClr val="3B82F6"/>
                </a:solidFill>
                <a:latin typeface="Segoe UI"/>
              </a:defRPr>
            </a:pPr>
            <a:r>
              <a:t>Dynamic Subgraph Filtering</a:t>
            </a:r>
          </a:p>
          <a:p>
            <a:pPr>
              <a:spcAft>
                <a:spcPts val="400"/>
              </a:spcAft>
              <a:defRPr sz="1100">
                <a:solidFill>
                  <a:srgbClr val="94A3B8"/>
                </a:solidFill>
                <a:latin typeface="Segoe UI"/>
              </a:defRPr>
            </a:pPr>
            <a:r>
              <a:t>Built with NetworkX; supports zoom, drag, and stage-specific focus.</a:t>
            </a:r>
          </a:p>
        </p:txBody>
      </p:sp>
      <p:pic>
        <p:nvPicPr>
          <p:cNvPr id="6" name="Picture 5" descr="annotated_03_entity_graph.png"/>
          <p:cNvPicPr>
            <a:picLocks noChangeAspect="1"/>
          </p:cNvPicPr>
          <p:nvPr/>
        </p:nvPicPr>
        <p:blipFill>
          <a:blip r:embed="rId2"/>
          <a:stretch>
            <a:fillRect/>
          </a:stretch>
        </p:blipFill>
        <p:spPr>
          <a:xfrm>
            <a:off x="5303520" y="1371600"/>
            <a:ext cx="6217920" cy="3886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Forensic Evidence Drawer (Rule #2 Proof)</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10B981"/>
                </a:solidFill>
                <a:latin typeface="Segoe UI"/>
              </a:defRPr>
            </a:pPr>
            <a:r>
              <a:t>100% TELEMETRY GROUNDING</a:t>
            </a:r>
          </a:p>
          <a:p>
            <a:pPr>
              <a:defRPr sz="1200" b="1">
                <a:solidFill>
                  <a:srgbClr val="06B6D4"/>
                </a:solidFill>
                <a:latin typeface="Segoe UI"/>
              </a:defRPr>
            </a:pPr>
            <a:r>
              <a:t>[1] Stage Forensic Anchor</a:t>
            </a:r>
          </a:p>
          <a:p>
            <a:pPr>
              <a:spcAft>
                <a:spcPts val="400"/>
              </a:spcAft>
              <a:defRPr sz="1100">
                <a:solidFill>
                  <a:srgbClr val="94A3B8"/>
                </a:solidFill>
                <a:latin typeface="Segoe UI"/>
              </a:defRPr>
            </a:pPr>
            <a:r>
              <a:t>Exposes triggering detector (AUTH_NEW_LOCATION), base weight (0.55), and exact start/end timestamps.</a:t>
            </a:r>
          </a:p>
          <a:p>
            <a:pPr>
              <a:defRPr sz="1200" b="1">
                <a:solidFill>
                  <a:srgbClr val="10B981"/>
                </a:solidFill>
                <a:latin typeface="Segoe UI"/>
              </a:defRPr>
            </a:pPr>
            <a:r>
              <a:t>[2] Concrete Event Card</a:t>
            </a:r>
          </a:p>
          <a:p>
            <a:pPr>
              <a:spcAft>
                <a:spcPts val="400"/>
              </a:spcAft>
              <a:defRPr sz="1100">
                <a:solidFill>
                  <a:srgbClr val="94A3B8"/>
                </a:solidFill>
                <a:latin typeface="Segoe UI"/>
              </a:defRPr>
            </a:pPr>
            <a:r>
              <a:t>Cites verified event ID evt-003 with source vpn, event_type login_success, and action authenticate.</a:t>
            </a:r>
          </a:p>
          <a:p>
            <a:pPr>
              <a:defRPr sz="1200" b="1">
                <a:solidFill>
                  <a:srgbClr val="F59E0B"/>
                </a:solidFill>
                <a:latin typeface="Segoe UI"/>
              </a:defRPr>
            </a:pPr>
            <a:r>
              <a:t>[3] Raw JSON Payload</a:t>
            </a:r>
          </a:p>
          <a:p>
            <a:pPr>
              <a:spcAft>
                <a:spcPts val="400"/>
              </a:spcAft>
              <a:defRPr sz="1100">
                <a:solidFill>
                  <a:srgbClr val="94A3B8"/>
                </a:solidFill>
                <a:latin typeface="Segoe UI"/>
              </a:defRPr>
            </a:pPr>
            <a:r>
              <a:t>Displays access mask, file path, source IP (203.0.113.10), and location (Bucharest, Romania).</a:t>
            </a:r>
          </a:p>
          <a:p>
            <a:pPr>
              <a:defRPr sz="1200" b="1">
                <a:solidFill>
                  <a:srgbClr val="F43F5E"/>
                </a:solidFill>
                <a:latin typeface="Segoe UI"/>
              </a:defRPr>
            </a:pPr>
            <a:r>
              <a:t>Rule #2 Compliance</a:t>
            </a:r>
          </a:p>
          <a:p>
            <a:pPr>
              <a:spcAft>
                <a:spcPts val="400"/>
              </a:spcAft>
              <a:defRPr sz="1100">
                <a:solidFill>
                  <a:srgbClr val="94A3B8"/>
                </a:solidFill>
                <a:latin typeface="Segoe UI"/>
              </a:defRPr>
            </a:pPr>
            <a:r>
              <a:t>'Every stage must have proof.' ThreatWeave enforces that every promoted stage must reference real event IDs.</a:t>
            </a:r>
          </a:p>
          <a:p>
            <a:pPr>
              <a:defRPr sz="1200" b="1">
                <a:solidFill>
                  <a:srgbClr val="3B82F6"/>
                </a:solidFill>
                <a:latin typeface="Segoe UI"/>
              </a:defRPr>
            </a:pPr>
            <a:r>
              <a:t>Zero Hallucination</a:t>
            </a:r>
          </a:p>
          <a:p>
            <a:pPr>
              <a:spcAft>
                <a:spcPts val="400"/>
              </a:spcAft>
              <a:defRPr sz="1100">
                <a:solidFill>
                  <a:srgbClr val="94A3B8"/>
                </a:solidFill>
                <a:latin typeface="Segoe UI"/>
              </a:defRPr>
            </a:pPr>
            <a:r>
              <a:t>Evaluators can compare the drawer directly to data/scenarios/attack_insider_usb.jsonl.</a:t>
            </a:r>
          </a:p>
        </p:txBody>
      </p:sp>
      <p:pic>
        <p:nvPicPr>
          <p:cNvPr id="6" name="Picture 5" descr="annotated_04_evidence_drawer.png"/>
          <p:cNvPicPr>
            <a:picLocks noChangeAspect="1"/>
          </p:cNvPicPr>
          <p:nvPr/>
        </p:nvPicPr>
        <p:blipFill>
          <a:blip r:embed="rId2"/>
          <a:stretch>
            <a:fillRect/>
          </a:stretch>
        </p:blipFill>
        <p:spPr>
          <a:xfrm>
            <a:off x="5303520" y="1371600"/>
            <a:ext cx="6217920" cy="3886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Bounded Copilot &amp; Anti-Hallucination Guard</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A855F7"/>
                </a:solidFill>
                <a:latin typeface="Segoe UI"/>
              </a:defRPr>
            </a:pPr>
            <a:r>
              <a:t>GROUNDED INCIDENT EXPLANATION</a:t>
            </a:r>
          </a:p>
          <a:p>
            <a:pPr>
              <a:defRPr sz="1200" b="1">
                <a:solidFill>
                  <a:srgbClr val="06B6D4"/>
                </a:solidFill>
                <a:latin typeface="Segoe UI"/>
              </a:defRPr>
            </a:pPr>
            <a:r>
              <a:t>[1] Bounded Narrative</a:t>
            </a:r>
          </a:p>
          <a:p>
            <a:pPr>
              <a:spcAft>
                <a:spcPts val="400"/>
              </a:spcAft>
              <a:defRPr sz="1100">
                <a:solidFill>
                  <a:srgbClr val="94A3B8"/>
                </a:solidFill>
                <a:latin typeface="Segoe UI"/>
              </a:defRPr>
            </a:pPr>
            <a:r>
              <a:t>Explains why this is an attack: correlates 7 events across 4 stages with factor weights (0.71 Sig, 1.00 Seq).</a:t>
            </a:r>
          </a:p>
          <a:p>
            <a:pPr>
              <a:defRPr sz="1200" b="1">
                <a:solidFill>
                  <a:srgbClr val="10B981"/>
                </a:solidFill>
                <a:latin typeface="Segoe UI"/>
              </a:defRPr>
            </a:pPr>
            <a:r>
              <a:t>[2] Verification Passed Seal</a:t>
            </a:r>
          </a:p>
          <a:p>
            <a:pPr>
              <a:spcAft>
                <a:spcPts val="400"/>
              </a:spcAft>
              <a:defRPr sz="1100">
                <a:solidFill>
                  <a:srgbClr val="94A3B8"/>
                </a:solidFill>
                <a:latin typeface="Segoe UI"/>
              </a:defRPr>
            </a:pPr>
            <a:r>
              <a:t>Passes CopilotOutputVerifier schema and set-membership checks against stored incident.</a:t>
            </a:r>
          </a:p>
          <a:p>
            <a:pPr>
              <a:defRPr sz="1200" b="1">
                <a:solidFill>
                  <a:srgbClr val="3B82F6"/>
                </a:solidFill>
                <a:latin typeface="Segoe UI"/>
              </a:defRPr>
            </a:pPr>
            <a:r>
              <a:t>[3] Grounded Event Links</a:t>
            </a:r>
          </a:p>
          <a:p>
            <a:pPr>
              <a:spcAft>
                <a:spcPts val="400"/>
              </a:spcAft>
              <a:defRPr sz="1100">
                <a:solidFill>
                  <a:srgbClr val="94A3B8"/>
                </a:solidFill>
                <a:latin typeface="Segoe UI"/>
              </a:defRPr>
            </a:pPr>
            <a:r>
              <a:t>Clickable badges for evt-003, evt-008, evt-012 linking directly to forensic telemetry.</a:t>
            </a:r>
          </a:p>
          <a:p>
            <a:pPr>
              <a:defRPr sz="1200" b="1">
                <a:solidFill>
                  <a:srgbClr val="F43F5E"/>
                </a:solidFill>
                <a:latin typeface="Segoe UI"/>
              </a:defRPr>
            </a:pPr>
            <a:r>
              <a:t>[4] Negative Test Sandbox</a:t>
            </a:r>
          </a:p>
          <a:p>
            <a:pPr>
              <a:spcAft>
                <a:spcPts val="400"/>
              </a:spcAft>
              <a:defRPr sz="1100">
                <a:solidFill>
                  <a:srgbClr val="94A3B8"/>
                </a:solidFill>
                <a:latin typeface="Segoe UI"/>
              </a:defRPr>
            </a:pPr>
            <a:r>
              <a:t>Built-in evaluator buttons to inject fake event ID (evt-fake-9999) or unauthorized action.</a:t>
            </a:r>
          </a:p>
          <a:p>
            <a:pPr>
              <a:defRPr sz="1200" b="1">
                <a:solidFill>
                  <a:srgbClr val="F59E0B"/>
                </a:solidFill>
                <a:latin typeface="Segoe UI"/>
              </a:defRPr>
            </a:pPr>
            <a:r>
              <a:t>Real-Time Rejection</a:t>
            </a:r>
          </a:p>
          <a:p>
            <a:pPr>
              <a:spcAft>
                <a:spcPts val="400"/>
              </a:spcAft>
              <a:defRPr sz="1100">
                <a:solidFill>
                  <a:srgbClr val="94A3B8"/>
                </a:solidFill>
                <a:latin typeface="Segoe UI"/>
              </a:defRPr>
            </a:pPr>
            <a:r>
              <a:t>Injecting hallucinated tokens instantly triggers verifier rejection before display.</a:t>
            </a:r>
          </a:p>
        </p:txBody>
      </p:sp>
      <p:pic>
        <p:nvPicPr>
          <p:cNvPr id="6" name="Picture 5" descr="annotated_05_copilot_verified.png"/>
          <p:cNvPicPr>
            <a:picLocks noChangeAspect="1"/>
          </p:cNvPicPr>
          <p:nvPr/>
        </p:nvPicPr>
        <p:blipFill>
          <a:blip r:embed="rId2"/>
          <a:stretch>
            <a:fillRect/>
          </a:stretch>
        </p:blipFill>
        <p:spPr>
          <a:xfrm>
            <a:off x="5303520" y="1371600"/>
            <a:ext cx="6217920" cy="3886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Replay Lab &amp; Multi-Scenario Benchmarking</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10B981"/>
                </a:solidFill>
                <a:latin typeface="Segoe UI"/>
              </a:defRPr>
            </a:pPr>
            <a:r>
              <a:t>OFFICIAL BENCHMARK SCENARIOS</a:t>
            </a:r>
          </a:p>
          <a:p>
            <a:pPr>
              <a:defRPr sz="1200" b="1">
                <a:solidFill>
                  <a:srgbClr val="06B6D4"/>
                </a:solidFill>
                <a:latin typeface="Segoe UI"/>
              </a:defRPr>
            </a:pPr>
            <a:r>
              <a:t>[1] Canonical Attack</a:t>
            </a:r>
          </a:p>
          <a:p>
            <a:pPr>
              <a:spcAft>
                <a:spcPts val="400"/>
              </a:spcAft>
              <a:defRPr sz="1100">
                <a:solidFill>
                  <a:srgbClr val="94A3B8"/>
                </a:solidFill>
                <a:latin typeface="Segoe UI"/>
              </a:defRPr>
            </a:pPr>
            <a:r>
              <a:t>attack_insider_usb.jsonl (15 events) -&gt; 1 Incident Promoted, 4 Stages, 89 Risk.</a:t>
            </a:r>
          </a:p>
          <a:p>
            <a:pPr>
              <a:defRPr sz="1200" b="1">
                <a:solidFill>
                  <a:srgbClr val="10B981"/>
                </a:solidFill>
                <a:latin typeface="Segoe UI"/>
              </a:defRPr>
            </a:pPr>
            <a:r>
              <a:t>[2] Benign Admin Noise</a:t>
            </a:r>
          </a:p>
          <a:p>
            <a:pPr>
              <a:spcAft>
                <a:spcPts val="400"/>
              </a:spcAft>
              <a:defRPr sz="1100">
                <a:solidFill>
                  <a:srgbClr val="94A3B8"/>
                </a:solidFill>
                <a:latin typeface="Segoe UI"/>
              </a:defRPr>
            </a:pPr>
            <a:r>
              <a:t>benign_admin.jsonl (10 events) -&gt; 0 Incidents Promoted, 2 Suppressed, 100% FP quiet.</a:t>
            </a:r>
          </a:p>
          <a:p>
            <a:pPr>
              <a:defRPr sz="1200" b="1">
                <a:solidFill>
                  <a:srgbClr val="F59E0B"/>
                </a:solidFill>
                <a:latin typeface="Segoe UI"/>
              </a:defRPr>
            </a:pPr>
            <a:r>
              <a:t>[3] Partial Attack Chain</a:t>
            </a:r>
          </a:p>
          <a:p>
            <a:pPr>
              <a:spcAft>
                <a:spcPts val="400"/>
              </a:spcAft>
              <a:defRPr sz="1100">
                <a:solidFill>
                  <a:srgbClr val="94A3B8"/>
                </a:solidFill>
                <a:latin typeface="Segoe UI"/>
              </a:defRPr>
            </a:pPr>
            <a:r>
              <a:t>attack_partial.jsonl (7 events) -&gt; 1 Incident Promoted, 2 Stages, Risk gracefully degrades to 76.</a:t>
            </a:r>
          </a:p>
          <a:p>
            <a:pPr>
              <a:defRPr sz="1200" b="1">
                <a:solidFill>
                  <a:srgbClr val="A855F7"/>
                </a:solidFill>
                <a:latin typeface="Segoe UI"/>
              </a:defRPr>
            </a:pPr>
            <a:r>
              <a:t>[4] Benchmark Ledger</a:t>
            </a:r>
          </a:p>
          <a:p>
            <a:pPr>
              <a:spcAft>
                <a:spcPts val="400"/>
              </a:spcAft>
              <a:defRPr sz="1100">
                <a:solidFill>
                  <a:srgbClr val="94A3B8"/>
                </a:solidFill>
                <a:latin typeface="Segoe UI"/>
              </a:defRPr>
            </a:pPr>
            <a:r>
              <a:t>Permanent table comparing records, signals, incidents, and promotion status.</a:t>
            </a:r>
          </a:p>
          <a:p>
            <a:pPr>
              <a:defRPr sz="1200" b="1">
                <a:solidFill>
                  <a:srgbClr val="3B82F6"/>
                </a:solidFill>
                <a:latin typeface="Segoe UI"/>
              </a:defRPr>
            </a:pPr>
            <a:r>
              <a:t>Single-Click Replay</a:t>
            </a:r>
          </a:p>
          <a:p>
            <a:pPr>
              <a:spcAft>
                <a:spcPts val="400"/>
              </a:spcAft>
              <a:defRPr sz="1100">
                <a:solidFill>
                  <a:srgbClr val="94A3B8"/>
                </a:solidFill>
                <a:latin typeface="Segoe UI"/>
              </a:defRPr>
            </a:pPr>
            <a:r>
              <a:t>Allows evaluators to re-run any dataset from a clean slate in under 2 seconds.</a:t>
            </a:r>
          </a:p>
        </p:txBody>
      </p:sp>
      <p:pic>
        <p:nvPicPr>
          <p:cNvPr id="6" name="Picture 5" descr="annotated_06_replay_lab.png"/>
          <p:cNvPicPr>
            <a:picLocks noChangeAspect="1"/>
          </p:cNvPicPr>
          <p:nvPr/>
        </p:nvPicPr>
        <p:blipFill>
          <a:blip r:embed="rId2"/>
          <a:stretch>
            <a:fillRect/>
          </a:stretch>
        </p:blipFill>
        <p:spPr>
          <a:xfrm>
            <a:off x="5303520" y="1371600"/>
            <a:ext cx="6217920" cy="3886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Element Walkthrough: False-Positive Suppression Audit Ledger</a:t>
            </a:r>
          </a:p>
        </p:txBody>
      </p:sp>
      <p:sp>
        <p:nvSpPr>
          <p:cNvPr id="4" name="Rounded Rectangle 3"/>
          <p:cNvSpPr/>
          <p:nvPr/>
        </p:nvSpPr>
        <p:spPr>
          <a:xfrm>
            <a:off x="731520" y="1371600"/>
            <a:ext cx="4389120" cy="493776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023360" cy="4572000"/>
          </a:xfrm>
          <a:prstGeom prst="rect">
            <a:avLst/>
          </a:prstGeom>
          <a:noFill/>
        </p:spPr>
        <p:txBody>
          <a:bodyPr wrap="square">
            <a:spAutoFit/>
          </a:bodyPr>
          <a:lstStyle/>
          <a:p>
            <a:pPr>
              <a:spcAft>
                <a:spcPts val="1000"/>
              </a:spcAft>
              <a:defRPr sz="1500" b="1">
                <a:solidFill>
                  <a:srgbClr val="A855F7"/>
                </a:solidFill>
                <a:latin typeface="Segoe UI"/>
              </a:defRPr>
            </a:pPr>
            <a:r>
              <a:t>SILENCE WITHOUT BLIND SPOTS</a:t>
            </a:r>
          </a:p>
          <a:p>
            <a:pPr>
              <a:defRPr sz="1200" b="1">
                <a:solidFill>
                  <a:srgbClr val="10B981"/>
                </a:solidFill>
                <a:latin typeface="Segoe UI"/>
              </a:defRPr>
            </a:pPr>
            <a:r>
              <a:t>[1] Suppression KPI Card</a:t>
            </a:r>
          </a:p>
          <a:p>
            <a:pPr>
              <a:spcAft>
                <a:spcPts val="400"/>
              </a:spcAft>
              <a:defRPr sz="1100">
                <a:solidFill>
                  <a:srgbClr val="94A3B8"/>
                </a:solidFill>
                <a:latin typeface="Segoe UI"/>
              </a:defRPr>
            </a:pPr>
            <a:r>
              <a:t>Logs 2 suppressed clusters from benign dataset; prevents false alarms without dropping data.</a:t>
            </a:r>
          </a:p>
          <a:p>
            <a:pPr>
              <a:defRPr sz="1200" b="1">
                <a:solidFill>
                  <a:srgbClr val="A855F7"/>
                </a:solidFill>
                <a:latin typeface="Segoe UI"/>
              </a:defRPr>
            </a:pPr>
            <a:r>
              <a:t>[2] Audited Cluster Records</a:t>
            </a:r>
          </a:p>
          <a:p>
            <a:pPr>
              <a:spcAft>
                <a:spcPts val="400"/>
              </a:spcAft>
              <a:defRPr sz="1100">
                <a:solidFill>
                  <a:srgbClr val="94A3B8"/>
                </a:solidFill>
                <a:latin typeface="Segoe UI"/>
              </a:defRPr>
            </a:pPr>
            <a:r>
              <a:t>Records actor keys (user-admin-01, user-admin-02) and signals (UNUSUAL_FILE_ACCESS_TIME).</a:t>
            </a:r>
          </a:p>
          <a:p>
            <a:pPr>
              <a:defRPr sz="1200" b="1">
                <a:solidFill>
                  <a:srgbClr val="F59E0B"/>
                </a:solidFill>
                <a:latin typeface="Segoe UI"/>
              </a:defRPr>
            </a:pPr>
            <a:r>
              <a:t>Promotion Gate Reason</a:t>
            </a:r>
          </a:p>
          <a:p>
            <a:pPr>
              <a:spcAft>
                <a:spcPts val="400"/>
              </a:spcAft>
              <a:defRPr sz="1100">
                <a:solidFill>
                  <a:srgbClr val="94A3B8"/>
                </a:solidFill>
                <a:latin typeface="Segoe UI"/>
              </a:defRPr>
            </a:pPr>
            <a:r>
              <a:t>Cluster labeled INSUFFICIENT_CHAIN_EVIDENCE (&lt;3 events, &lt;2 attack stages).</a:t>
            </a:r>
          </a:p>
          <a:p>
            <a:pPr>
              <a:defRPr sz="1200" b="1">
                <a:solidFill>
                  <a:srgbClr val="06B6D4"/>
                </a:solidFill>
                <a:latin typeface="Segoe UI"/>
              </a:defRPr>
            </a:pPr>
            <a:r>
              <a:t>Compliance &amp; Auditability</a:t>
            </a:r>
          </a:p>
          <a:p>
            <a:pPr>
              <a:spcAft>
                <a:spcPts val="400"/>
              </a:spcAft>
              <a:defRPr sz="1100">
                <a:solidFill>
                  <a:srgbClr val="94A3B8"/>
                </a:solidFill>
                <a:latin typeface="Segoe UI"/>
              </a:defRPr>
            </a:pPr>
            <a:r>
              <a:t>Suppression is tracked in SQLite for regulatory review; nothing is silently discarded.</a:t>
            </a:r>
          </a:p>
          <a:p>
            <a:pPr>
              <a:defRPr sz="1200" b="1">
                <a:solidFill>
                  <a:srgbClr val="3B82F6"/>
                </a:solidFill>
                <a:latin typeface="Segoe UI"/>
              </a:defRPr>
            </a:pPr>
            <a:r>
              <a:t>Rule #1 Adherence</a:t>
            </a:r>
          </a:p>
          <a:p>
            <a:pPr>
              <a:spcAft>
                <a:spcPts val="400"/>
              </a:spcAft>
              <a:defRPr sz="1100">
                <a:solidFill>
                  <a:srgbClr val="94A3B8"/>
                </a:solidFill>
                <a:latin typeface="Segoe UI"/>
              </a:defRPr>
            </a:pPr>
            <a:r>
              <a:t>Guarantees quiet SOC queue during benign IT operations while logging every decision.</a:t>
            </a:r>
          </a:p>
        </p:txBody>
      </p:sp>
      <p:pic>
        <p:nvPicPr>
          <p:cNvPr id="6" name="Picture 5" descr="annotated_07_suppression_ledger.png"/>
          <p:cNvPicPr>
            <a:picLocks noChangeAspect="1"/>
          </p:cNvPicPr>
          <p:nvPr/>
        </p:nvPicPr>
        <p:blipFill>
          <a:blip r:embed="rId2"/>
          <a:stretch>
            <a:fillRect/>
          </a:stretch>
        </p:blipFill>
        <p:spPr>
          <a:xfrm>
            <a:off x="5303520" y="1371600"/>
            <a:ext cx="6217920" cy="3886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Dataset Provenance &amp; Complete Technology Disclosure</a:t>
            </a:r>
          </a:p>
        </p:txBody>
      </p:sp>
      <p:sp>
        <p:nvSpPr>
          <p:cNvPr id="4" name="Rounded Rectangle 3"/>
          <p:cNvSpPr/>
          <p:nvPr/>
        </p:nvSpPr>
        <p:spPr>
          <a:xfrm>
            <a:off x="731520" y="1463040"/>
            <a:ext cx="512064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572000" cy="4206240"/>
          </a:xfrm>
          <a:prstGeom prst="rect">
            <a:avLst/>
          </a:prstGeom>
          <a:noFill/>
        </p:spPr>
        <p:txBody>
          <a:bodyPr wrap="square">
            <a:spAutoFit/>
          </a:bodyPr>
          <a:lstStyle/>
          <a:p>
            <a:pPr>
              <a:spcAft>
                <a:spcPts val="1000"/>
              </a:spcAft>
              <a:defRPr sz="1600" b="1">
                <a:solidFill>
                  <a:srgbClr val="06B6D4"/>
                </a:solidFill>
                <a:latin typeface="Segoe UI"/>
              </a:defRPr>
            </a:pPr>
            <a:r>
              <a:t>DATASET PROVENANCE DISCLOSURE</a:t>
            </a:r>
          </a:p>
          <a:p>
            <a:pPr>
              <a:defRPr sz="1200" b="1">
                <a:solidFill>
                  <a:srgbClr val="F8FAFC"/>
                </a:solidFill>
                <a:latin typeface="Segoe UI"/>
              </a:defRPr>
            </a:pPr>
            <a:r>
              <a:t>• attack_insider_usb.jsonl (15 events)</a:t>
            </a:r>
          </a:p>
          <a:p>
            <a:pPr>
              <a:spcAft>
                <a:spcPts val="400"/>
              </a:spcAft>
              <a:defRPr sz="1100">
                <a:solidFill>
                  <a:srgbClr val="94A3B8"/>
                </a:solidFill>
                <a:latin typeface="Segoe UI"/>
              </a:defRPr>
            </a:pPr>
            <a:r>
              <a:t>Team-generated deterministic synthetic telemetry covering canonical 4-stage insider threat.</a:t>
            </a:r>
          </a:p>
          <a:p>
            <a:pPr>
              <a:defRPr sz="1200" b="1">
                <a:solidFill>
                  <a:srgbClr val="F8FAFC"/>
                </a:solidFill>
                <a:latin typeface="Segoe UI"/>
              </a:defRPr>
            </a:pPr>
            <a:r>
              <a:t>• benign_admin.jsonl (10 events)</a:t>
            </a:r>
          </a:p>
          <a:p>
            <a:pPr>
              <a:spcAft>
                <a:spcPts val="400"/>
              </a:spcAft>
              <a:defRPr sz="1100">
                <a:solidFill>
                  <a:srgbClr val="94A3B8"/>
                </a:solidFill>
                <a:latin typeface="Segoe UI"/>
              </a:defRPr>
            </a:pPr>
            <a:r>
              <a:t>Team-generated negative control telemetry modeling routine sysadmin activity.</a:t>
            </a:r>
          </a:p>
          <a:p>
            <a:pPr>
              <a:defRPr sz="1200" b="1">
                <a:solidFill>
                  <a:srgbClr val="F8FAFC"/>
                </a:solidFill>
                <a:latin typeface="Segoe UI"/>
              </a:defRPr>
            </a:pPr>
            <a:r>
              <a:t>• attack_partial.jsonl (7 events)</a:t>
            </a:r>
          </a:p>
          <a:p>
            <a:pPr>
              <a:spcAft>
                <a:spcPts val="400"/>
              </a:spcAft>
              <a:defRPr sz="1100">
                <a:solidFill>
                  <a:srgbClr val="94A3B8"/>
                </a:solidFill>
                <a:latin typeface="Segoe UI"/>
              </a:defRPr>
            </a:pPr>
            <a:r>
              <a:t>Team-generated partial scenario evaluating graceful risk score degradation.</a:t>
            </a:r>
          </a:p>
          <a:p>
            <a:pPr>
              <a:defRPr sz="1200" b="1">
                <a:solidFill>
                  <a:srgbClr val="F8FAFC"/>
                </a:solidFill>
                <a:latin typeface="Segoe UI"/>
              </a:defRPr>
            </a:pPr>
            <a:r>
              <a:t>• malformed_logs.jsonl (8 records)</a:t>
            </a:r>
          </a:p>
          <a:p>
            <a:pPr>
              <a:spcAft>
                <a:spcPts val="400"/>
              </a:spcAft>
              <a:defRPr sz="1100">
                <a:solidFill>
                  <a:srgbClr val="94A3B8"/>
                </a:solidFill>
                <a:latin typeface="Segoe UI"/>
              </a:defRPr>
            </a:pPr>
            <a:r>
              <a:t>Quarantine test fixture verifying schema validation and bad data handling.</a:t>
            </a:r>
          </a:p>
          <a:p>
            <a:pPr>
              <a:defRPr sz="1200" b="1">
                <a:solidFill>
                  <a:srgbClr val="F8FAFC"/>
                </a:solidFill>
                <a:latin typeface="Segoe UI"/>
              </a:defRPr>
            </a:pPr>
            <a:r>
              <a:t>• Public Datasets Used:</a:t>
            </a:r>
          </a:p>
          <a:p>
            <a:pPr>
              <a:spcAft>
                <a:spcPts val="400"/>
              </a:spcAft>
              <a:defRPr sz="1100">
                <a:solidFill>
                  <a:srgbClr val="94A3B8"/>
                </a:solidFill>
                <a:latin typeface="Segoe UI"/>
              </a:defRPr>
            </a:pPr>
            <a:r>
              <a:t>NONE. Zero external public datasets (DARPA/CICIDS) used. 100% reproducible committed JSONL.</a:t>
            </a:r>
          </a:p>
        </p:txBody>
      </p:sp>
      <p:sp>
        <p:nvSpPr>
          <p:cNvPr id="6" name="Rounded Rectangle 5"/>
          <p:cNvSpPr/>
          <p:nvPr/>
        </p:nvSpPr>
        <p:spPr>
          <a:xfrm>
            <a:off x="6217920" y="1463040"/>
            <a:ext cx="521208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737360"/>
            <a:ext cx="4663440" cy="4206240"/>
          </a:xfrm>
          <a:prstGeom prst="rect">
            <a:avLst/>
          </a:prstGeom>
          <a:noFill/>
        </p:spPr>
        <p:txBody>
          <a:bodyPr wrap="square">
            <a:spAutoFit/>
          </a:bodyPr>
          <a:lstStyle/>
          <a:p>
            <a:pPr>
              <a:spcAft>
                <a:spcPts val="1000"/>
              </a:spcAft>
              <a:defRPr sz="1600" b="1">
                <a:solidFill>
                  <a:srgbClr val="10B981"/>
                </a:solidFill>
                <a:latin typeface="Segoe UI"/>
              </a:defRPr>
            </a:pPr>
            <a:r>
              <a:t>TECHNOLOGY &amp; ENVIRONMENT AUDIT</a:t>
            </a:r>
          </a:p>
          <a:p>
            <a:pPr>
              <a:defRPr sz="1200" b="1">
                <a:solidFill>
                  <a:srgbClr val="F8FAFC"/>
                </a:solidFill>
                <a:latin typeface="Segoe UI"/>
              </a:defRPr>
            </a:pPr>
            <a:r>
              <a:t>• Backend Core:</a:t>
            </a:r>
          </a:p>
          <a:p>
            <a:pPr>
              <a:spcAft>
                <a:spcPts val="400"/>
              </a:spcAft>
              <a:defRPr sz="1100">
                <a:solidFill>
                  <a:srgbClr val="94A3B8"/>
                </a:solidFill>
                <a:latin typeface="Segoe UI"/>
              </a:defRPr>
            </a:pPr>
            <a:r>
              <a:t>Python 3.11+ / FastAPI, Pydantic v2, NetworkX 3.4, NumPy 2.2, Pandas 2.2, SQLite.</a:t>
            </a:r>
          </a:p>
          <a:p>
            <a:pPr>
              <a:defRPr sz="1200" b="1">
                <a:solidFill>
                  <a:srgbClr val="F8FAFC"/>
                </a:solidFill>
                <a:latin typeface="Segoe UI"/>
              </a:defRPr>
            </a:pPr>
            <a:r>
              <a:t>• Frontend Console:</a:t>
            </a:r>
          </a:p>
          <a:p>
            <a:pPr>
              <a:spcAft>
                <a:spcPts val="400"/>
              </a:spcAft>
              <a:defRPr sz="1100">
                <a:solidFill>
                  <a:srgbClr val="94A3B8"/>
                </a:solidFill>
                <a:latin typeface="Segoe UI"/>
              </a:defRPr>
            </a:pPr>
            <a:r>
              <a:t>Next.js 16 (React 19), Tailwind CSS v4, Lucide Icons, Interactive SVG Entity Graph.</a:t>
            </a:r>
          </a:p>
          <a:p>
            <a:pPr>
              <a:defRPr sz="1200" b="1">
                <a:solidFill>
                  <a:srgbClr val="F8FAFC"/>
                </a:solidFill>
                <a:latin typeface="Segoe UI"/>
              </a:defRPr>
            </a:pPr>
            <a:r>
              <a:t>• AI / ML Architecture:</a:t>
            </a:r>
          </a:p>
          <a:p>
            <a:pPr>
              <a:spcAft>
                <a:spcPts val="400"/>
              </a:spcAft>
              <a:defRPr sz="1100">
                <a:solidFill>
                  <a:srgbClr val="94A3B8"/>
                </a:solidFill>
                <a:latin typeface="Segoe UI"/>
              </a:defRPr>
            </a:pPr>
            <a:r>
              <a:t>DeterministicCopilotProvider + CopilotOutputVerifier; RobustAnomalyScorer (z-excess).</a:t>
            </a:r>
          </a:p>
          <a:p>
            <a:pPr>
              <a:defRPr sz="1200" b="1">
                <a:solidFill>
                  <a:srgbClr val="F8FAFC"/>
                </a:solidFill>
                <a:latin typeface="Segoe UI"/>
              </a:defRPr>
            </a:pPr>
            <a:r>
              <a:t>• Network Independence:</a:t>
            </a:r>
          </a:p>
          <a:p>
            <a:pPr>
              <a:spcAft>
                <a:spcPts val="400"/>
              </a:spcAft>
              <a:defRPr sz="1100">
                <a:solidFill>
                  <a:srgbClr val="94A3B8"/>
                </a:solidFill>
                <a:latin typeface="Segoe UI"/>
              </a:defRPr>
            </a:pPr>
            <a:r>
              <a:t>100% Air-Gapped / Offline. Zero external HTTP calls. Zero external API keys needed.</a:t>
            </a:r>
          </a:p>
          <a:p>
            <a:pPr>
              <a:defRPr sz="1200" b="1">
                <a:solidFill>
                  <a:srgbClr val="F8FAFC"/>
                </a:solidFill>
                <a:latin typeface="Segoe UI"/>
              </a:defRPr>
            </a:pPr>
            <a:r>
              <a:t>• Test Verification:</a:t>
            </a:r>
          </a:p>
          <a:p>
            <a:pPr>
              <a:spcAft>
                <a:spcPts val="400"/>
              </a:spcAft>
              <a:defRPr sz="1100">
                <a:solidFill>
                  <a:srgbClr val="94A3B8"/>
                </a:solidFill>
                <a:latin typeface="Segoe UI"/>
              </a:defRPr>
            </a:pPr>
            <a:r>
              <a:t>42 of 42 Automated Pytest Tests Passing (100%). Playwright E2E 8/8 Steps Passing.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6B6D4"/>
                </a:solidFill>
                <a:latin typeface="Segoe UI"/>
              </a:defRPr>
            </a:pPr>
            <a:r>
              <a:t>THREATWEAVE // HNX26PSI03</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400" b="1">
                <a:solidFill>
                  <a:srgbClr val="F8FAFC"/>
                </a:solidFill>
                <a:latin typeface="Segoe UI"/>
              </a:defRPr>
            </a:pPr>
            <a:r>
              <a:t>Judge Presentation Blueprint: 3-Minute Live Demo Flow</a:t>
            </a:r>
          </a:p>
        </p:txBody>
      </p:sp>
      <p:sp>
        <p:nvSpPr>
          <p:cNvPr id="4" name="Rounded Rectangle 3"/>
          <p:cNvSpPr/>
          <p:nvPr/>
        </p:nvSpPr>
        <p:spPr>
          <a:xfrm>
            <a:off x="731520" y="1463040"/>
            <a:ext cx="338328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square">
            <a:spAutoFit/>
          </a:bodyPr>
          <a:lstStyle/>
          <a:p>
            <a:pPr>
              <a:spcAft>
                <a:spcPts val="1200"/>
              </a:spcAft>
              <a:defRPr sz="1400" b="1">
                <a:solidFill>
                  <a:srgbClr val="06B6D4"/>
                </a:solidFill>
                <a:latin typeface="Segoe UI"/>
              </a:defRPr>
            </a:pPr>
            <a:r>
              <a:t>MINUTE 1: THE RECONSTRUCTION</a:t>
            </a:r>
          </a:p>
          <a:p>
            <a:pPr>
              <a:spcAft>
                <a:spcPts val="800"/>
              </a:spcAft>
              <a:defRPr sz="1100">
                <a:solidFill>
                  <a:srgbClr val="94A3B8"/>
                </a:solidFill>
                <a:latin typeface="Segoe UI"/>
              </a:defRPr>
            </a:pPr>
            <a:r>
              <a:t>1. Open Investigation Console on inc-001.</a:t>
            </a:r>
          </a:p>
          <a:p>
            <a:pPr>
              <a:spcAft>
                <a:spcPts val="800"/>
              </a:spcAft>
              <a:defRPr sz="1100">
                <a:solidFill>
                  <a:srgbClr val="94A3B8"/>
                </a:solidFill>
                <a:latin typeface="Segoe UI"/>
              </a:defRPr>
            </a:pPr>
            <a:r>
              <a:t>2. Highlight Circular Risk Meter (89/100) and explain the 4-factor formula.</a:t>
            </a:r>
          </a:p>
          <a:p>
            <a:pPr>
              <a:spcAft>
                <a:spcPts val="800"/>
              </a:spcAft>
              <a:defRPr sz="1100">
                <a:solidFill>
                  <a:srgbClr val="94A3B8"/>
                </a:solidFill>
                <a:latin typeface="Segoe UI"/>
              </a:defRPr>
            </a:pPr>
            <a:r>
              <a:t>3. Walk across the 4 Attack Timeline stages: Initial Access -&gt; Collection -&gt; USB Transfer -&gt; Exfiltration.</a:t>
            </a:r>
          </a:p>
          <a:p>
            <a:pPr>
              <a:spcAft>
                <a:spcPts val="800"/>
              </a:spcAft>
              <a:defRPr sz="1100">
                <a:solidFill>
                  <a:srgbClr val="94A3B8"/>
                </a:solidFill>
                <a:latin typeface="Segoe UI"/>
              </a:defRPr>
            </a:pPr>
            <a:r>
              <a:t>4. Prove chronological monotonicity from 09:41 to 09:58 UTC.</a:t>
            </a:r>
          </a:p>
        </p:txBody>
      </p:sp>
      <p:sp>
        <p:nvSpPr>
          <p:cNvPr id="6" name="Rounded Rectangle 5"/>
          <p:cNvSpPr/>
          <p:nvPr/>
        </p:nvSpPr>
        <p:spPr>
          <a:xfrm>
            <a:off x="4389120" y="1463040"/>
            <a:ext cx="338328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square">
            <a:spAutoFit/>
          </a:bodyPr>
          <a:lstStyle/>
          <a:p>
            <a:pPr>
              <a:spcAft>
                <a:spcPts val="1200"/>
              </a:spcAft>
              <a:defRPr sz="1400" b="1">
                <a:solidFill>
                  <a:srgbClr val="A855F7"/>
                </a:solidFill>
                <a:latin typeface="Segoe UI"/>
              </a:defRPr>
            </a:pPr>
            <a:r>
              <a:t>MINUTE 2: EVIDENCE &amp; GRAPH</a:t>
            </a:r>
          </a:p>
          <a:p>
            <a:pPr>
              <a:spcAft>
                <a:spcPts val="800"/>
              </a:spcAft>
              <a:defRPr sz="1100">
                <a:solidFill>
                  <a:srgbClr val="94A3B8"/>
                </a:solidFill>
                <a:latin typeface="Segoe UI"/>
              </a:defRPr>
            </a:pPr>
            <a:r>
              <a:t>1. Click Stage 1: Watch the SVG Entity Graph highlight user-42 and device-17.</a:t>
            </a:r>
          </a:p>
          <a:p>
            <a:pPr>
              <a:spcAft>
                <a:spcPts val="800"/>
              </a:spcAft>
              <a:defRPr sz="1100">
                <a:solidFill>
                  <a:srgbClr val="94A3B8"/>
                </a:solidFill>
                <a:latin typeface="Segoe UI"/>
              </a:defRPr>
            </a:pPr>
            <a:r>
              <a:t>2. Open Forensic Evidence Drawer: Point out real event ID evt-003 with raw VPN payload.</a:t>
            </a:r>
          </a:p>
          <a:p>
            <a:pPr>
              <a:spcAft>
                <a:spcPts val="800"/>
              </a:spcAft>
              <a:defRPr sz="1100">
                <a:solidFill>
                  <a:srgbClr val="94A3B8"/>
                </a:solidFill>
                <a:latin typeface="Segoe UI"/>
              </a:defRPr>
            </a:pPr>
            <a:r>
              <a:t>3. Show Analyst Copilot: Highlight the green 'EVIDENCE VALIDATION PASSED' seal.</a:t>
            </a:r>
          </a:p>
          <a:p>
            <a:pPr>
              <a:spcAft>
                <a:spcPts val="800"/>
              </a:spcAft>
              <a:defRPr sz="1100">
                <a:solidFill>
                  <a:srgbClr val="94A3B8"/>
                </a:solidFill>
                <a:latin typeface="Segoe UI"/>
              </a:defRPr>
            </a:pPr>
            <a:r>
              <a:t>4. Show Grounded Citations: Click evt-003 and evt-008 badges.</a:t>
            </a:r>
          </a:p>
        </p:txBody>
      </p:sp>
      <p:sp>
        <p:nvSpPr>
          <p:cNvPr id="8" name="Rounded Rectangle 7"/>
          <p:cNvSpPr/>
          <p:nvPr/>
        </p:nvSpPr>
        <p:spPr>
          <a:xfrm>
            <a:off x="8046720" y="1463040"/>
            <a:ext cx="3383280" cy="4754880"/>
          </a:xfrm>
          <a:prstGeom prst="roundRect">
            <a:avLst/>
          </a:prstGeom>
          <a:solidFill>
            <a:srgbClr val="111827"/>
          </a:solidFill>
          <a:ln w="190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square">
            <a:spAutoFit/>
          </a:bodyPr>
          <a:lstStyle/>
          <a:p>
            <a:pPr>
              <a:spcAft>
                <a:spcPts val="1200"/>
              </a:spcAft>
              <a:defRPr sz="1400" b="1">
                <a:solidFill>
                  <a:srgbClr val="10B981"/>
                </a:solidFill>
                <a:latin typeface="Segoe UI"/>
              </a:defRPr>
            </a:pPr>
            <a:r>
              <a:t>MINUTE 3: RULES &amp; CONTROLS</a:t>
            </a:r>
          </a:p>
          <a:p>
            <a:pPr>
              <a:spcAft>
                <a:spcPts val="800"/>
              </a:spcAft>
              <a:defRPr sz="1100">
                <a:solidFill>
                  <a:srgbClr val="94A3B8"/>
                </a:solidFill>
                <a:latin typeface="Segoe UI"/>
              </a:defRPr>
            </a:pPr>
            <a:r>
              <a:t>1. Switch to Replay Lab: Click 'Replay Dataset' on benign_admin.jsonl.</a:t>
            </a:r>
          </a:p>
          <a:p>
            <a:pPr>
              <a:spcAft>
                <a:spcPts val="800"/>
              </a:spcAft>
              <a:defRPr sz="1100">
                <a:solidFill>
                  <a:srgbClr val="94A3B8"/>
                </a:solidFill>
                <a:latin typeface="Segoe UI"/>
              </a:defRPr>
            </a:pPr>
            <a:r>
              <a:t>2. Show 0 Incidents Promoted, proving Key Rule #1 (False-positive limit).</a:t>
            </a:r>
          </a:p>
          <a:p>
            <a:pPr>
              <a:spcAft>
                <a:spcPts val="800"/>
              </a:spcAft>
              <a:defRPr sz="1100">
                <a:solidFill>
                  <a:srgbClr val="94A3B8"/>
                </a:solidFill>
                <a:latin typeface="Segoe UI"/>
              </a:defRPr>
            </a:pPr>
            <a:r>
              <a:t>3. Open Suppression Ledger: Show the 2 audited clusters with reason INSUFFICIENT_CHAIN_EVIDENCE.</a:t>
            </a:r>
          </a:p>
          <a:p>
            <a:pPr>
              <a:spcAft>
                <a:spcPts val="800"/>
              </a:spcAft>
              <a:defRPr sz="1100">
                <a:solidFill>
                  <a:srgbClr val="94A3B8"/>
                </a:solidFill>
                <a:latin typeface="Segoe UI"/>
              </a:defRPr>
            </a:pPr>
            <a:r>
              <a:t>4. Click 'Inject Fake Event': Show the Copilot Verifier instantly intercepting hallucinated tokens.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